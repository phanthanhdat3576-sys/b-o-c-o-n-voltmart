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3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7873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6"/>
          </a:solidFill>
          <a:ln w="12700">
            <a:solidFill>
              <a:srgbClr val="061A36"/>
            </a:solidFill>
            <a:prstDash val="solid"/>
          </a:ln>
        </p:spPr>
      </p:sp>
      <p:pic>
        <p:nvPicPr>
          <p:cNvPr id="3" name="Image 0" descr="/mnt/data/84963f94-d6b5-4c16-9b96-7714c7a496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982" y="1005840"/>
            <a:ext cx="5199156" cy="2926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6309360" cy="6858000"/>
          </a:xfrm>
          <a:prstGeom prst="rect">
            <a:avLst/>
          </a:prstGeom>
          <a:solidFill>
            <a:srgbClr val="061A36"/>
          </a:solidFill>
          <a:ln w="12700">
            <a:solidFill>
              <a:srgbClr val="061A3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1051560"/>
            <a:ext cx="5394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XÂY DỰNG WEBSITE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BÁN LINH KIỆN ĐIỆN TỬ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58368" y="245059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7E8FF"/>
                </a:solidFill>
              </a:rPr>
              <a:t>Đồ án môn học Chuyên đề ASP.NET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58368" y="2971800"/>
            <a:ext cx="1417320" cy="384048"/>
          </a:xfrm>
          <a:prstGeom prst="roundRect">
            <a:avLst>
              <a:gd name="adj" fmla="val 23810"/>
            </a:avLst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" y="3063240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VoltMart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240280" y="2971800"/>
            <a:ext cx="1920240" cy="384048"/>
          </a:xfrm>
          <a:prstGeom prst="roundRect">
            <a:avLst>
              <a:gd name="adj" fmla="val 23810"/>
            </a:avLst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350008" y="3063240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ASP.NET Core MVC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15968" y="2971800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25696" y="3063240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EF Core + SQLite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58368" y="534924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BFF"/>
                </a:solidFill>
              </a:rPr>
              <a:t>Sinh viên: </a:t>
            </a:r>
            <a:r>
              <a:rPr lang="en-US" sz="1200" dirty="0" err="1" smtClean="0">
                <a:solidFill>
                  <a:srgbClr val="DDEBFF"/>
                </a:solidFill>
              </a:rPr>
              <a:t>Phan</a:t>
            </a:r>
            <a:r>
              <a:rPr lang="en-US" sz="1200" dirty="0" smtClean="0">
                <a:solidFill>
                  <a:srgbClr val="DDEBFF"/>
                </a:solidFill>
              </a:rPr>
              <a:t> </a:t>
            </a:r>
            <a:r>
              <a:rPr lang="en-US" sz="1200" dirty="0" err="1" smtClean="0">
                <a:solidFill>
                  <a:srgbClr val="DDEBFF"/>
                </a:solidFill>
              </a:rPr>
              <a:t>Thành</a:t>
            </a:r>
            <a:r>
              <a:rPr lang="en-US" sz="1200" dirty="0" smtClean="0">
                <a:solidFill>
                  <a:srgbClr val="DDEBFF"/>
                </a:solidFill>
              </a:rPr>
              <a:t> </a:t>
            </a:r>
            <a:r>
              <a:rPr lang="en-US" sz="1200" dirty="0" err="1" smtClean="0">
                <a:solidFill>
                  <a:srgbClr val="DDEBFF"/>
                </a:solidFill>
              </a:rPr>
              <a:t>Đạt</a:t>
            </a:r>
            <a:r>
              <a:rPr lang="en-US" sz="1200" dirty="0" smtClean="0">
                <a:solidFill>
                  <a:srgbClr val="DDEBFF"/>
                </a:solidFill>
              </a:rPr>
              <a:t>•  </a:t>
            </a:r>
            <a:r>
              <a:rPr lang="en-US" sz="1200" dirty="0">
                <a:solidFill>
                  <a:srgbClr val="DDEBFF"/>
                </a:solidFill>
              </a:rPr>
              <a:t>Lớp: </a:t>
            </a:r>
            <a:r>
              <a:rPr lang="en-US" sz="1200" dirty="0" smtClean="0">
                <a:solidFill>
                  <a:srgbClr val="DDEBFF"/>
                </a:solidFill>
              </a:rPr>
              <a:t>DX23TT9B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DEBFF"/>
                </a:solidFill>
              </a:rPr>
              <a:t>Giảng viên hướng dẫn</a:t>
            </a:r>
            <a:r>
              <a:rPr lang="en-US" sz="1200">
                <a:solidFill>
                  <a:srgbClr val="DDEBFF"/>
                </a:solidFill>
              </a:rPr>
              <a:t>: </a:t>
            </a:r>
            <a:r>
              <a:rPr lang="en-US" sz="1200" smtClean="0">
                <a:solidFill>
                  <a:srgbClr val="DDEBFF"/>
                </a:solidFill>
              </a:rPr>
              <a:t>TH.S NGUYỄN NHỨT LAM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920" y="649224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8BA0"/>
                </a:solidFill>
              </a:rPr>
              <a:t>VoltMart • Đồ án chuyên đề ASP.NET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247120" y="64922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C8BA0"/>
                </a:solidFill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A75"/>
          </a:solidFill>
          <a:ln w="12700">
            <a:solidFill>
              <a:srgbClr val="0B3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A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Mục tiêu và phạm vi đề tài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005840" cy="0"/>
          </a:xfrm>
          <a:prstGeom prst="line">
            <a:avLst/>
          </a:prstGeom>
          <a:noFill/>
          <a:ln w="38100">
            <a:solidFill>
              <a:srgbClr val="FF7A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33832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E8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234440"/>
            <a:ext cx="73152" cy="150876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39903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A75"/>
                </a:solidFill>
              </a:rPr>
              <a:t>Mục tiêu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1801368"/>
            <a:ext cx="297180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A"/>
                </a:solidFill>
              </a:rPr>
              <a:t>Xây dựng website thương mại điện tử cho cửa hàng linh kiện điện tử, có giao diện khách hàng và khu vực quản trị.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4840" y="1234440"/>
            <a:ext cx="33832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E8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234440"/>
            <a:ext cx="73152" cy="150876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39903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A75"/>
                </a:solidFill>
              </a:rPr>
              <a:t>Phạm vi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63440" y="1801368"/>
            <a:ext cx="297180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A"/>
                </a:solidFill>
              </a:rPr>
              <a:t>Sản phẩm gồm vi điều khiển, cảm biến, module, IC, điện trở, tụ điện, nguồn và dụng cụ hàn.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83880" y="1234440"/>
            <a:ext cx="33832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E8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1234440"/>
            <a:ext cx="73152" cy="1508760"/>
          </a:xfrm>
          <a:prstGeom prst="rect">
            <a:avLst/>
          </a:prstGeom>
          <a:solidFill>
            <a:srgbClr val="0B3A75"/>
          </a:solidFill>
          <a:ln w="12700">
            <a:solidFill>
              <a:srgbClr val="0B3A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139903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A75"/>
                </a:solidFill>
              </a:rPr>
              <a:t>Kết quả cần đạt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12480" y="1801368"/>
            <a:ext cx="297180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A"/>
                </a:solidFill>
              </a:rPr>
              <a:t>CRUD dữ liệu, giỏ hàng, đặt hàng, tìm kiếm tương đối, thống kê và README hướng dẫn chạy dự án.</a:t>
            </a:r>
            <a:endParaRPr lang="en-US" sz="1150" dirty="0"/>
          </a:p>
        </p:txBody>
      </p:sp>
      <p:pic>
        <p:nvPicPr>
          <p:cNvPr id="17" name="Image 0" descr="/mnt/data/84963f94-d6b5-4c16-9b96-7714c7a496f0.png"/>
          <p:cNvPicPr>
            <a:picLocks noChangeAspect="1"/>
          </p:cNvPicPr>
          <p:nvPr/>
        </p:nvPicPr>
        <p:blipFill>
          <a:blip r:embed="rId3"/>
          <a:srcRect t="9903" b="9903"/>
          <a:stretch/>
        </p:blipFill>
        <p:spPr>
          <a:xfrm>
            <a:off x="685800" y="3154680"/>
            <a:ext cx="5166360" cy="23317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263640" y="3246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A75"/>
                </a:solidFill>
              </a:rPr>
              <a:t>Định hướng giao diện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6263640" y="3639312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B677A"/>
                </a:solidFill>
              </a:rPr>
              <a:t>Trang chủ lấy cảm hứng từ bố cục e-commerce hiện đại: header, tìm kiếm, danh mục, banner, lưới sản phẩm, flash sale và footer.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02920" y="649224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8BA0"/>
                </a:solidFill>
              </a:rPr>
              <a:t>VoltMart • Đồ án chuyên đề ASP.NET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1247120" y="64922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C8BA0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A75"/>
          </a:solidFill>
          <a:ln w="12700">
            <a:solidFill>
              <a:srgbClr val="0B3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A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Bài toán nghiệp vụ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005840" cy="0"/>
          </a:xfrm>
          <a:prstGeom prst="line">
            <a:avLst/>
          </a:prstGeom>
          <a:noFill/>
          <a:ln w="38100">
            <a:solidFill>
              <a:srgbClr val="FF7A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43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A75"/>
                </a:solidFill>
              </a:rPr>
              <a:t>Quy trình mua hàng trực tuyến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E8F4FF"/>
          </a:solidFill>
          <a:ln w="12700">
            <a:solidFill>
              <a:srgbClr val="C9DD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488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A75"/>
                </a:solidFill>
              </a:rPr>
              <a:t>Tra cứu sản phẩm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926080" y="18745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5FAFF"/>
          </a:solidFill>
          <a:ln w="12700">
            <a:solidFill>
              <a:srgbClr val="C9DD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21488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A75"/>
                </a:solidFill>
              </a:rPr>
              <a:t>Xem chi tiết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166360" y="18745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E8F4FF"/>
          </a:solidFill>
          <a:ln w="12700">
            <a:solidFill>
              <a:srgbClr val="C9DD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57800" y="21488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A75"/>
                </a:solidFill>
              </a:rPr>
              <a:t>Thêm giỏ hàng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406640" y="18745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5FAFF"/>
          </a:solidFill>
          <a:ln w="12700">
            <a:solidFill>
              <a:srgbClr val="C9DD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0" y="21488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A75"/>
                </a:solidFill>
              </a:rPr>
              <a:t>Đặt hàng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646920" y="18745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E8F4FF"/>
          </a:solidFill>
          <a:ln w="12700">
            <a:solidFill>
              <a:srgbClr val="C9DD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38360" y="21488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A75"/>
                </a:solidFill>
              </a:rPr>
              <a:t>Theo dõi xử lý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1520" y="3657600"/>
            <a:ext cx="32918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8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657600"/>
            <a:ext cx="73152" cy="132588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82219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A75"/>
                </a:solidFill>
              </a:rPr>
              <a:t>Khách hàng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0120" y="4224528"/>
            <a:ext cx="288036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A"/>
                </a:solidFill>
              </a:rPr>
              <a:t>Cần xem nhanh danh mục, giá bán, tồn kho, hình ảnh và đặt hàng dễ dàng.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434840" y="3657600"/>
            <a:ext cx="32918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8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34840" y="3657600"/>
            <a:ext cx="73152" cy="132588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382219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A75"/>
                </a:solidFill>
              </a:rPr>
              <a:t>Quản trị viên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63440" y="4224528"/>
            <a:ext cx="288036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A"/>
                </a:solidFill>
              </a:rPr>
              <a:t>Cần quản lý sản phẩm, danh mục, đơn hàng và số liệu doanh thu.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38160" y="3657600"/>
            <a:ext cx="32918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8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0" y="3657600"/>
            <a:ext cx="73152" cy="1325880"/>
          </a:xfrm>
          <a:prstGeom prst="rect">
            <a:avLst/>
          </a:prstGeom>
          <a:solidFill>
            <a:srgbClr val="0B3A75"/>
          </a:solidFill>
          <a:ln w="12700">
            <a:solidFill>
              <a:srgbClr val="0B3A7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66760" y="382219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A75"/>
                </a:solidFill>
              </a:rPr>
              <a:t>Hệ thống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66760" y="4224528"/>
            <a:ext cx="288036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A"/>
                </a:solidFill>
              </a:rPr>
              <a:t>Cần lưu trữ bền vững, kiểm tra ràng buộc và phản hồi giao diện rõ ràng.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2920" y="649224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8BA0"/>
                </a:solidFill>
              </a:rPr>
              <a:t>VoltMart • Đồ án chuyên đề ASP.NET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247120" y="64922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C8BA0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A75"/>
          </a:solidFill>
          <a:ln w="12700">
            <a:solidFill>
              <a:srgbClr val="0B3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A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Công nghệ sử dụng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005840" cy="0"/>
          </a:xfrm>
          <a:prstGeom prst="line">
            <a:avLst/>
          </a:prstGeom>
          <a:noFill/>
          <a:ln w="38100">
            <a:solidFill>
              <a:srgbClr val="FF7A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234440"/>
            <a:ext cx="4892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8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234440"/>
            <a:ext cx="73152" cy="132588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3990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A75"/>
                </a:solidFill>
              </a:rPr>
              <a:t>ASP.NET Core MVC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1801368"/>
            <a:ext cx="448056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A"/>
                </a:solidFill>
              </a:rPr>
              <a:t>Tách Model, View, Controller; dễ bảo trì và mở rộng.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234440"/>
            <a:ext cx="4892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8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234440"/>
            <a:ext cx="73152" cy="132588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3990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A75"/>
                </a:solidFill>
              </a:rPr>
              <a:t>Entity Framework Core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7960" y="1801368"/>
            <a:ext cx="448056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A"/>
                </a:solidFill>
              </a:rPr>
              <a:t>Truy vấn và lưu dữ liệu bằng lớp C#, giảm phụ thuộc SQL thủ công.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3200400"/>
            <a:ext cx="4892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8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200400"/>
            <a:ext cx="73152" cy="1325880"/>
          </a:xfrm>
          <a:prstGeom prst="rect">
            <a:avLst/>
          </a:prstGeom>
          <a:solidFill>
            <a:srgbClr val="0B3A75"/>
          </a:solidFill>
          <a:ln w="12700">
            <a:solidFill>
              <a:srgbClr val="0B3A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3649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A75"/>
                </a:solidFill>
              </a:rPr>
              <a:t>SQLite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05840" y="3767328"/>
            <a:ext cx="448056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A"/>
                </a:solidFill>
              </a:rPr>
              <a:t>CSDL gọn nhẹ, phù hợp đồ án và dữ liệu thử nghiệm.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09360" y="3200400"/>
            <a:ext cx="4892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8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3200400"/>
            <a:ext cx="73152" cy="1325880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33649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A75"/>
                </a:solidFill>
              </a:rPr>
              <a:t>Razor + CSS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37960" y="3767328"/>
            <a:ext cx="448056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A"/>
                </a:solidFill>
              </a:rPr>
              <a:t>Tạo giao diện động, responsive và đúng nghiệp vụ.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77240" y="5486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A75"/>
                </a:solidFill>
              </a:rPr>
              <a:t>Mô hình triển khai cục bộ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" y="58978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77A"/>
                </a:solidFill>
              </a:rPr>
              <a:t>Browser → ASP.NET MVC → EF Core → SQLite Database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" y="649224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8BA0"/>
                </a:solidFill>
              </a:rPr>
              <a:t>VoltMart • Đồ án chuyên đề ASP.NET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247120" y="64922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C8BA0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A75"/>
          </a:solidFill>
          <a:ln w="12700">
            <a:solidFill>
              <a:srgbClr val="0B3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A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Phân rã chức năng hệ thống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005840" cy="0"/>
          </a:xfrm>
          <a:prstGeom prst="line">
            <a:avLst/>
          </a:prstGeom>
          <a:noFill/>
          <a:ln w="38100">
            <a:solidFill>
              <a:srgbClr val="FF7A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234440"/>
            <a:ext cx="4892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8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234440"/>
            <a:ext cx="73152" cy="123444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3990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A75"/>
                </a:solidFill>
              </a:rPr>
              <a:t>Khách hàng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1801368"/>
            <a:ext cx="44805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A"/>
                </a:solidFill>
              </a:rPr>
              <a:t>Trang chủ, danh mục, tìm kiếm, chi tiết sản phẩm, giỏ hàng, đặt hàng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234440"/>
            <a:ext cx="4892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8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234440"/>
            <a:ext cx="73152" cy="123444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3990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A75"/>
                </a:solidFill>
              </a:rPr>
              <a:t>Quản trị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7960" y="1801368"/>
            <a:ext cx="44805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A"/>
                </a:solidFill>
              </a:rPr>
              <a:t>Đăng nhập, dashboard, quản lý sản phẩm, danh mục, đơn hàng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3063240"/>
            <a:ext cx="4892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8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063240"/>
            <a:ext cx="73152" cy="1234440"/>
          </a:xfrm>
          <a:prstGeom prst="rect">
            <a:avLst/>
          </a:prstGeom>
          <a:solidFill>
            <a:srgbClr val="0B3A75"/>
          </a:solidFill>
          <a:ln w="12700">
            <a:solidFill>
              <a:srgbClr val="0B3A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2278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A75"/>
                </a:solidFill>
              </a:rPr>
              <a:t>Dữ liệu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05840" y="3630168"/>
            <a:ext cx="44805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A"/>
                </a:solidFill>
              </a:rPr>
              <a:t>Category, Product, Order, OrderItem, CartItem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09360" y="3063240"/>
            <a:ext cx="4892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8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3063240"/>
            <a:ext cx="73152" cy="1234440"/>
          </a:xfrm>
          <a:prstGeom prst="rect">
            <a:avLst/>
          </a:prstGeom>
          <a:solidFill>
            <a:srgbClr val="00A676"/>
          </a:solidFill>
          <a:ln w="12700">
            <a:solidFill>
              <a:srgbClr val="00A6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32278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A75"/>
                </a:solidFill>
              </a:rPr>
              <a:t>Báo cáo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37960" y="3630168"/>
            <a:ext cx="44805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A"/>
                </a:solidFill>
              </a:rPr>
              <a:t>Tổng sản phẩm, đơn hàng, đơn hôm nay, doanh thu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14400" y="55778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</a:rPr>
              <a:t>Các chức năng được chọn để bám sát tiêu chí đánh giá: lưu trữ hoàn chỉnh, CRUD ổn định, tìm kiếm tương đối, tương tác CSDL và thống kê số liệu.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649224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8BA0"/>
                </a:solidFill>
              </a:rPr>
              <a:t>VoltMart • Đồ án chuyên đề ASP.NET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247120" y="64922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C8BA0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A75"/>
          </a:solidFill>
          <a:ln w="12700">
            <a:solidFill>
              <a:srgbClr val="0B3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A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Mô hình dữ liệu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005840" cy="0"/>
          </a:xfrm>
          <a:prstGeom prst="line">
            <a:avLst/>
          </a:prstGeom>
          <a:noFill/>
          <a:ln w="38100">
            <a:solidFill>
              <a:srgbClr val="FF7A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71600"/>
            <a:ext cx="2834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8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71600"/>
            <a:ext cx="73152" cy="123444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361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A75"/>
                </a:solidFill>
              </a:rPr>
              <a:t>Categories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1938528"/>
            <a:ext cx="24231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A"/>
                </a:solidFill>
              </a:rPr>
              <a:t>Id, Name, Slug, Icon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06240" y="1371600"/>
            <a:ext cx="2834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8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1371600"/>
            <a:ext cx="73152" cy="123444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15361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A75"/>
                </a:solidFill>
              </a:rPr>
              <a:t>Products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34840" y="1938528"/>
            <a:ext cx="24231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A"/>
                </a:solidFill>
              </a:rPr>
              <a:t>Id, CategoryId, Name, Price, Stock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680960" y="1371600"/>
            <a:ext cx="2834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8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1371600"/>
            <a:ext cx="73152" cy="1234440"/>
          </a:xfrm>
          <a:prstGeom prst="rect">
            <a:avLst/>
          </a:prstGeom>
          <a:solidFill>
            <a:srgbClr val="0B3A75"/>
          </a:solidFill>
          <a:ln w="12700">
            <a:solidFill>
              <a:srgbClr val="0B3A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09560" y="15361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A75"/>
                </a:solidFill>
              </a:rPr>
              <a:t>Orders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909560" y="1938528"/>
            <a:ext cx="24231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A"/>
                </a:solidFill>
              </a:rPr>
              <a:t>Customer, Phone, Address, Total, Status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206240" y="3840480"/>
            <a:ext cx="2834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8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06240" y="3840480"/>
            <a:ext cx="73152" cy="1234440"/>
          </a:xfrm>
          <a:prstGeom prst="rect">
            <a:avLst/>
          </a:prstGeom>
          <a:solidFill>
            <a:srgbClr val="00A676"/>
          </a:solidFill>
          <a:ln w="12700">
            <a:solidFill>
              <a:srgbClr val="00A6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34840" y="400507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A75"/>
                </a:solidFill>
              </a:rPr>
              <a:t>OrderItems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434840" y="4407408"/>
            <a:ext cx="24231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A"/>
                </a:solidFill>
              </a:rPr>
              <a:t>OrderId, ProductId, Quantity, UnitPrice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566160" y="1984248"/>
            <a:ext cx="594360" cy="0"/>
          </a:xfrm>
          <a:prstGeom prst="line">
            <a:avLst/>
          </a:prstGeom>
          <a:noFill/>
          <a:ln w="25400">
            <a:solidFill>
              <a:srgbClr val="9AB4D0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040880" y="1984248"/>
            <a:ext cx="594360" cy="0"/>
          </a:xfrm>
          <a:prstGeom prst="line">
            <a:avLst/>
          </a:prstGeom>
          <a:noFill/>
          <a:ln w="25400">
            <a:solidFill>
              <a:srgbClr val="9AB4D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166360" y="2788920"/>
            <a:ext cx="548640" cy="731520"/>
          </a:xfrm>
          <a:prstGeom prst="downArrow">
            <a:avLst/>
          </a:prstGeom>
          <a:solidFill>
            <a:srgbClr val="9AB4D0"/>
          </a:solidFill>
          <a:ln w="12700">
            <a:solidFill>
              <a:srgbClr val="9AB4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54864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</a:rPr>
              <a:t>Một danh mục có nhiều sản phẩm; một đơn hàng có nhiều dòng chi tiết; mỗi dòng chi tiết gắn với một sản phẩm.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649224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8BA0"/>
                </a:solidFill>
              </a:rPr>
              <a:t>VoltMart • Đồ án chuyên đề ASP.NET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247120" y="64922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C8BA0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A75"/>
          </a:solidFill>
          <a:ln w="12700">
            <a:solidFill>
              <a:srgbClr val="0B3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A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Giao diện người dùng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005840" cy="0"/>
          </a:xfrm>
          <a:prstGeom prst="line">
            <a:avLst/>
          </a:prstGeom>
          <a:noFill/>
          <a:ln w="38100">
            <a:solidFill>
              <a:srgbClr val="FF7A00"/>
            </a:solidFill>
            <a:prstDash val="solid"/>
          </a:ln>
        </p:spPr>
      </p:sp>
      <p:pic>
        <p:nvPicPr>
          <p:cNvPr id="5" name="Image 0" descr="/mnt/data/84963f94-d6b5-4c16-9b96-7714c7a496f0.png"/>
          <p:cNvPicPr>
            <a:picLocks noChangeAspect="1"/>
          </p:cNvPicPr>
          <p:nvPr/>
        </p:nvPicPr>
        <p:blipFill>
          <a:blip r:embed="rId3"/>
          <a:srcRect l="755" r="755"/>
          <a:stretch/>
        </p:blipFill>
        <p:spPr>
          <a:xfrm>
            <a:off x="594360" y="1078992"/>
            <a:ext cx="672084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35240" y="123444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8F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635240" y="1234440"/>
            <a:ext cx="73152" cy="123444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63840" y="139903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A75"/>
                </a:solidFill>
              </a:rPr>
              <a:t>Điểm nổi bật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863840" y="1801368"/>
            <a:ext cx="33375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A"/>
                </a:solidFill>
              </a:rPr>
              <a:t>Bố cục thương mại điện tử đầy đủ: logo, tìm kiếm, danh mục, banner, sản phẩm nổi bật, ưu điểm dịch vụ và footer.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635240" y="278892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8F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35240" y="2788920"/>
            <a:ext cx="73152" cy="123444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63840" y="295351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A75"/>
                </a:solidFill>
              </a:rPr>
              <a:t>Trải nghiệm mua hàng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863840" y="3355848"/>
            <a:ext cx="33375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A"/>
                </a:solidFill>
              </a:rPr>
              <a:t>Nút mua hàng rõ ràng, thông tin giá và nhóm sản phẩm dễ nhận biết, phù hợp người mua linh kiện.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635240" y="43434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8F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635240" y="4343400"/>
            <a:ext cx="73152" cy="1051560"/>
          </a:xfrm>
          <a:prstGeom prst="rect">
            <a:avLst/>
          </a:prstGeom>
          <a:solidFill>
            <a:srgbClr val="0B3A75"/>
          </a:solidFill>
          <a:ln w="12700">
            <a:solidFill>
              <a:srgbClr val="0B3A7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63840" y="450799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A75"/>
                </a:solidFill>
              </a:rPr>
              <a:t>Tính nhất quán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863840" y="4910328"/>
            <a:ext cx="33375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A"/>
                </a:solidFill>
              </a:rPr>
              <a:t>Tông xanh - trắng - cam tạo cảm giác công nghệ, sạch sẽ và hiện đại.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02920" y="649224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8BA0"/>
                </a:solidFill>
              </a:rPr>
              <a:t>VoltMart • Đồ án chuyên đề ASP.NET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1247120" y="64922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C8BA0"/>
                </a:solidFill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A75"/>
          </a:solidFill>
          <a:ln w="12700">
            <a:solidFill>
              <a:srgbClr val="0B3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A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Khu vực quản trị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005840" cy="0"/>
          </a:xfrm>
          <a:prstGeom prst="line">
            <a:avLst/>
          </a:prstGeom>
          <a:noFill/>
          <a:ln w="38100">
            <a:solidFill>
              <a:srgbClr val="FF7A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14300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8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143000"/>
            <a:ext cx="73152" cy="123444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30759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A75"/>
                </a:solidFill>
              </a:rPr>
              <a:t>Dashboard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1709928"/>
            <a:ext cx="29718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A"/>
                </a:solidFill>
              </a:rPr>
              <a:t>Hiển thị tổng sản phẩm, đơn hàng, đơn hôm nay và doanh thu.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4840" y="114300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8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143000"/>
            <a:ext cx="73152" cy="123444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30759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A75"/>
                </a:solidFill>
              </a:rPr>
              <a:t>Quản lý sản phẩm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63440" y="1709928"/>
            <a:ext cx="29718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A"/>
                </a:solidFill>
              </a:rPr>
              <a:t>Thêm, sửa, ẩn sản phẩm; cập nhật giá, tồn kho, thương hiệu, hình ảnh.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92440" y="114300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8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143000"/>
            <a:ext cx="73152" cy="1234440"/>
          </a:xfrm>
          <a:prstGeom prst="rect">
            <a:avLst/>
          </a:prstGeom>
          <a:solidFill>
            <a:srgbClr val="0B3A75"/>
          </a:solidFill>
          <a:ln w="12700">
            <a:solidFill>
              <a:srgbClr val="0B3A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30759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A75"/>
                </a:solidFill>
              </a:rPr>
              <a:t>Quản lý danh mục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21040" y="1709928"/>
            <a:ext cx="29718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A"/>
                </a:solidFill>
              </a:rPr>
              <a:t>Cập nhật nhóm sản phẩm để tổ chức giao diện menu và bộ lọc.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560320" y="324612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8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0" y="3246120"/>
            <a:ext cx="73152" cy="1234440"/>
          </a:xfrm>
          <a:prstGeom prst="rect">
            <a:avLst/>
          </a:prstGeom>
          <a:solidFill>
            <a:srgbClr val="00A676"/>
          </a:solidFill>
          <a:ln w="12700">
            <a:solidFill>
              <a:srgbClr val="00A6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88920" y="341071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A75"/>
                </a:solidFill>
              </a:rPr>
              <a:t>Quản lý đơn hàng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788920" y="3813048"/>
            <a:ext cx="29718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A"/>
                </a:solidFill>
              </a:rPr>
              <a:t>Theo dõi thông tin khách hàng, chi tiết đơn và trạng thái xử lý.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09360" y="324612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8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3246120"/>
            <a:ext cx="73152" cy="123444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341071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A75"/>
                </a:solidFill>
              </a:rPr>
              <a:t>Bảo trì dữ liệu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37960" y="3813048"/>
            <a:ext cx="29718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A"/>
                </a:solidFill>
              </a:rPr>
              <a:t>Dữ liệu thao tác thông qua EF Core, giúp giảm lỗi và đảm bảo ràng buộc.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649224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8BA0"/>
                </a:solidFill>
              </a:rPr>
              <a:t>VoltMart • Đồ án chuyên đề ASP.NET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247120" y="64922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C8BA0"/>
                </a:solidFill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A75"/>
          </a:solidFill>
          <a:ln w="12700">
            <a:solidFill>
              <a:srgbClr val="0B3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A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Kiểm thử và kết quả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005840" cy="0"/>
          </a:xfrm>
          <a:prstGeom prst="line">
            <a:avLst/>
          </a:prstGeom>
          <a:noFill/>
          <a:ln w="38100">
            <a:solidFill>
              <a:srgbClr val="FF7A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43000"/>
            <a:ext cx="4709160" cy="457200"/>
          </a:xfrm>
          <a:prstGeom prst="roundRect">
            <a:avLst>
              <a:gd name="adj" fmla="val 8000"/>
            </a:avLst>
          </a:prstGeom>
          <a:solidFill>
            <a:srgbClr val="F5FAFF"/>
          </a:solidFill>
          <a:ln w="12700">
            <a:solidFill>
              <a:srgbClr val="D4E4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1271016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3A75"/>
                </a:solidFill>
              </a:rPr>
              <a:t>Xem trang chủ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63440" y="1271016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676"/>
                </a:solidFill>
              </a:rPr>
              <a:t>Đạt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1764792"/>
            <a:ext cx="470916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4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1892808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3A75"/>
                </a:solidFill>
              </a:rPr>
              <a:t>Tìm kiếm tương đối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63440" y="1892808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676"/>
                </a:solidFill>
              </a:rPr>
              <a:t>Đạt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386584"/>
            <a:ext cx="4709160" cy="457200"/>
          </a:xfrm>
          <a:prstGeom prst="roundRect">
            <a:avLst>
              <a:gd name="adj" fmla="val 8000"/>
            </a:avLst>
          </a:prstGeom>
          <a:solidFill>
            <a:srgbClr val="F5FAFF"/>
          </a:solidFill>
          <a:ln w="12700">
            <a:solidFill>
              <a:srgbClr val="D4E4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2514600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3A75"/>
                </a:solidFill>
              </a:rPr>
              <a:t>Thêm giỏ hàng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2514600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676"/>
                </a:solidFill>
              </a:rPr>
              <a:t>Đạt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008376"/>
            <a:ext cx="470916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4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3136392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3A75"/>
                </a:solidFill>
              </a:rPr>
              <a:t>Đặt hàng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3136392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676"/>
                </a:solidFill>
              </a:rPr>
              <a:t>Đạt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3630168"/>
            <a:ext cx="4709160" cy="457200"/>
          </a:xfrm>
          <a:prstGeom prst="roundRect">
            <a:avLst>
              <a:gd name="adj" fmla="val 8000"/>
            </a:avLst>
          </a:prstGeom>
          <a:solidFill>
            <a:srgbClr val="F5FAFF"/>
          </a:solidFill>
          <a:ln w="12700">
            <a:solidFill>
              <a:srgbClr val="D4E4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8992" y="3758184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3A75"/>
                </a:solidFill>
              </a:rPr>
              <a:t>CRUD sản phẩm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3758184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676"/>
                </a:solidFill>
              </a:rPr>
              <a:t>Đạt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4251960"/>
            <a:ext cx="470916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E4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8992" y="4379976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3A75"/>
                </a:solidFill>
              </a:rPr>
              <a:t>Thống kê dashboard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63440" y="4379976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676"/>
                </a:solidFill>
              </a:rPr>
              <a:t>Đạt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132588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8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1325880"/>
            <a:ext cx="73152" cy="123444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149047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A75"/>
                </a:solidFill>
              </a:rPr>
              <a:t>Kết quả chính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46520" y="1892808"/>
            <a:ext cx="43434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A"/>
                </a:solidFill>
              </a:rPr>
              <a:t>Ứng dụng chạy được quy trình bán hàng cơ bản và có khu vực quản trị phục vụ kiểm tra đồ án.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17920" y="2834640"/>
            <a:ext cx="4754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8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2834640"/>
            <a:ext cx="73152" cy="141732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299923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A75"/>
                </a:solidFill>
              </a:rPr>
              <a:t>Tiêu chí bám sát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446520" y="3401568"/>
            <a:ext cx="434340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A"/>
                </a:solidFill>
              </a:rPr>
              <a:t>Giao diện hài hòa, menu phù hợp, lưu trữ dữ liệu, thêm/sửa/xóa, tìm kiếm tương đối và thống kê.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2920" y="649224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8BA0"/>
                </a:solidFill>
              </a:rPr>
              <a:t>VoltMart • Đồ án chuyên đề ASP.NET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247120" y="64922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C8BA0"/>
                </a:solidFill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A75"/>
          </a:solidFill>
          <a:ln w="12700">
            <a:solidFill>
              <a:srgbClr val="0B3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A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Cấu trúc nộp đồ án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005840" cy="0"/>
          </a:xfrm>
          <a:prstGeom prst="line">
            <a:avLst/>
          </a:prstGeom>
          <a:noFill/>
          <a:ln w="38100">
            <a:solidFill>
              <a:srgbClr val="FF7A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051560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E8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051560"/>
            <a:ext cx="73152" cy="685800"/>
          </a:xfrm>
          <a:prstGeom prst="rect">
            <a:avLst/>
          </a:prstGeom>
          <a:solidFill>
            <a:srgbClr val="0B3A75"/>
          </a:solidFill>
          <a:ln w="12700">
            <a:solidFill>
              <a:srgbClr val="0B3A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216152"/>
            <a:ext cx="9646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A75"/>
                </a:solidFill>
              </a:rPr>
              <a:t>README.md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1618488"/>
            <a:ext cx="9646920" cy="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A"/>
                </a:solidFill>
              </a:rPr>
              <a:t>Hướng dẫn chạy và thông tin liên hệ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14400" y="2011680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E8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011680"/>
            <a:ext cx="73152" cy="6858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176272"/>
            <a:ext cx="9646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A75"/>
                </a:solidFill>
              </a:rPr>
              <a:t>src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2578608"/>
            <a:ext cx="9646920" cy="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A"/>
                </a:solidFill>
              </a:rPr>
              <a:t>Mã nguồn ASP.NET Core MVC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4400" y="2971800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E8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971800"/>
            <a:ext cx="73152" cy="68580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136392"/>
            <a:ext cx="9646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A75"/>
                </a:solidFill>
              </a:rPr>
              <a:t>setup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3000" y="3538728"/>
            <a:ext cx="9646920" cy="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A"/>
                </a:solidFill>
              </a:rPr>
              <a:t>Hướng dẫn cài đặt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4400" y="3931920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E8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931920"/>
            <a:ext cx="73152" cy="685800"/>
          </a:xfrm>
          <a:prstGeom prst="rect">
            <a:avLst/>
          </a:prstGeom>
          <a:solidFill>
            <a:srgbClr val="00A676"/>
          </a:solidFill>
          <a:ln w="12700">
            <a:solidFill>
              <a:srgbClr val="00A6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4096512"/>
            <a:ext cx="9646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A75"/>
                </a:solidFill>
              </a:rPr>
              <a:t>progress-report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43000" y="4498848"/>
            <a:ext cx="9646920" cy="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A"/>
                </a:solidFill>
              </a:rPr>
              <a:t>Báo cáo tiến độ hằng tuần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14400" y="4892040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E8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4892040"/>
            <a:ext cx="73152" cy="6858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5056632"/>
            <a:ext cx="9646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A75"/>
                </a:solidFill>
              </a:rPr>
              <a:t>thesis/doc, pdf, abs, refs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43000" y="5458968"/>
            <a:ext cx="9646920" cy="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A"/>
                </a:solidFill>
              </a:rPr>
              <a:t>Báo cáo Word/PDF, slide và tài liệu tham khảo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649224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8BA0"/>
                </a:solidFill>
              </a:rPr>
              <a:t>VoltMart • Đồ án chuyên đề ASP.NET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247120" y="64922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C8BA0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A75"/>
          </a:solidFill>
          <a:ln w="12700">
            <a:solidFill>
              <a:srgbClr val="0B3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A7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Hạn chế và hướng phát triển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841248"/>
            <a:ext cx="1005840" cy="0"/>
          </a:xfrm>
          <a:prstGeom prst="line">
            <a:avLst/>
          </a:prstGeom>
          <a:noFill/>
          <a:ln w="38100">
            <a:solidFill>
              <a:srgbClr val="FF7A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23444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8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234440"/>
            <a:ext cx="73152" cy="141732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39903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A75"/>
                </a:solidFill>
              </a:rPr>
              <a:t>Hạn chế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1801368"/>
            <a:ext cx="47091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A"/>
                </a:solidFill>
              </a:rPr>
              <a:t>Chưa tích hợp thanh toán trực tuyến; chưa có phân quyền nâng cao; dữ liệu thử nghiệm còn nhỏ.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23444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8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234440"/>
            <a:ext cx="73152" cy="14173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39903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A75"/>
                </a:solidFill>
              </a:rPr>
              <a:t>Hướng phát triển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7960" y="1801368"/>
            <a:ext cx="47091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77A"/>
                </a:solidFill>
              </a:rPr>
              <a:t>Bổ sung đăng nhập khách hàng, mã giảm giá, thanh toán trực tuyến, quản lý kho nâng cao và API cho ứng dụng di động.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3337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A75"/>
                </a:solidFill>
              </a:rPr>
              <a:t>Lộ trình mở rộng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14400" y="4069080"/>
            <a:ext cx="1874520" cy="384048"/>
          </a:xfrm>
          <a:prstGeom prst="roundRect">
            <a:avLst>
              <a:gd name="adj" fmla="val 23810"/>
            </a:avLst>
          </a:prstGeom>
          <a:solidFill>
            <a:srgbClr val="0B3A75"/>
          </a:solidFill>
          <a:ln w="12700">
            <a:solidFill>
              <a:srgbClr val="0B3A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4160520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Khách hàng thành viên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090672" y="4069080"/>
            <a:ext cx="1874520" cy="384048"/>
          </a:xfrm>
          <a:prstGeom prst="roundRect">
            <a:avLst>
              <a:gd name="adj" fmla="val 23810"/>
            </a:avLst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4160520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Thanh toán điện tử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266944" y="4069080"/>
            <a:ext cx="1874520" cy="384048"/>
          </a:xfrm>
          <a:prstGeom prst="roundRect">
            <a:avLst>
              <a:gd name="adj" fmla="val 23810"/>
            </a:avLst>
          </a:prstGeom>
          <a:solidFill>
            <a:srgbClr val="0B3A75"/>
          </a:solidFill>
          <a:ln w="12700">
            <a:solidFill>
              <a:srgbClr val="0B3A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76672" y="4160520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Quản lý tồn kho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43216" y="4069080"/>
            <a:ext cx="1874520" cy="384048"/>
          </a:xfrm>
          <a:prstGeom prst="roundRect">
            <a:avLst>
              <a:gd name="adj" fmla="val 23810"/>
            </a:avLst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52944" y="4160520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Triển khai máy chủ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619488" y="4069080"/>
            <a:ext cx="1874520" cy="384048"/>
          </a:xfrm>
          <a:prstGeom prst="roundRect">
            <a:avLst>
              <a:gd name="adj" fmla="val 23810"/>
            </a:avLst>
          </a:prstGeom>
          <a:solidFill>
            <a:srgbClr val="0B3A75"/>
          </a:solidFill>
          <a:ln w="12700">
            <a:solidFill>
              <a:srgbClr val="0B3A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29216" y="4160520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Ứng dụng di động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649224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8BA0"/>
                </a:solidFill>
              </a:rPr>
              <a:t>VoltMart • Đồ án chuyên đề ASP.NET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247120" y="64922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C8BA0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21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KẾT LUẬN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77240" y="16459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DEBFF"/>
                </a:solidFill>
              </a:rPr>
              <a:t>Đồ án đã xây dựng được website bán linh kiện điện tử bằng ASP.NET Core MVC, có chức năng khách hàng, quản trị, lưu trữ CSDL, tìm kiếm và thống kê.</a:t>
            </a:r>
            <a:endParaRPr lang="en-US" sz="1800" dirty="0"/>
          </a:p>
        </p:txBody>
      </p:sp>
      <p:pic>
        <p:nvPicPr>
          <p:cNvPr id="4" name="Image 0" descr="/mnt/data/84963f94-d6b5-4c16-9b96-7714c7a496f0.png"/>
          <p:cNvPicPr>
            <a:picLocks noChangeAspect="1"/>
          </p:cNvPicPr>
          <p:nvPr/>
        </p:nvPicPr>
        <p:blipFill>
          <a:blip r:embed="rId3"/>
          <a:srcRect l="6911" r="6911"/>
          <a:stretch/>
        </p:blipFill>
        <p:spPr>
          <a:xfrm>
            <a:off x="6858000" y="731520"/>
            <a:ext cx="448056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50749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Xin cảm ơn quý thầy cô đã lắng nghe!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777240" y="5669280"/>
            <a:ext cx="4754880" cy="0"/>
          </a:xfrm>
          <a:prstGeom prst="line">
            <a:avLst/>
          </a:prstGeom>
          <a:noFill/>
          <a:ln w="50800">
            <a:solidFill>
              <a:srgbClr val="FF7A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49224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8BA0"/>
                </a:solidFill>
              </a:rPr>
              <a:t>VoltMart • Đồ án chuyên đề ASP.NET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247120" y="64922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C8BA0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1084</Words>
  <Application>Microsoft Office PowerPoint</Application>
  <PresentationFormat>Widescreen</PresentationFormat>
  <Paragraphs>157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Trường Đại học Trà Vinh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Xây dựng website bán linh kiện điện tử</dc:title>
  <dc:subject>Đồ án ASP.NET - VoltMart</dc:subject>
  <dc:creator>ChatGPT</dc:creator>
  <cp:lastModifiedBy>N2C</cp:lastModifiedBy>
  <cp:revision>2</cp:revision>
  <dcterms:created xsi:type="dcterms:W3CDTF">2026-06-30T13:14:41Z</dcterms:created>
  <dcterms:modified xsi:type="dcterms:W3CDTF">2026-07-15T14:17:38Z</dcterms:modified>
</cp:coreProperties>
</file>